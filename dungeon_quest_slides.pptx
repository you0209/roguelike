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/>
    <p:restoredTop sz="94694"/>
  </p:normalViewPr>
  <p:slideViewPr>
    <p:cSldViewPr snapToGrid="0" snapToObjects="1">
      <p:cViewPr varScale="1">
        <p:scale>
          <a:sx n="120" d="100"/>
          <a:sy n="120" d="100"/>
        </p:scale>
        <p:origin x="20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502920"/>
            <a:ext cx="11277295" cy="3657600"/>
          </a:xfrm>
          <a:prstGeom prst="rect">
            <a:avLst/>
          </a:prstGeom>
          <a:solidFill>
            <a:srgbClr val="18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FFC832"/>
                </a:solidFill>
                <a:latin typeface="Impact"/>
              </a:rPr>
              <a:t>DUNGEON 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84831"/>
            <a:ext cx="11277295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C3D2F5"/>
                </a:solidFill>
                <a:latin typeface="Noto Sans JP"/>
              </a:rPr>
              <a:t>ローグライク × JRPG  ブラウザゲーム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3898" y="2798064"/>
            <a:ext cx="4063898" cy="2743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907792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 i="0">
                <a:solidFill>
                  <a:srgbClr val="FFFFFF"/>
                </a:solidFill>
                <a:latin typeface="Noto Sans JP"/>
              </a:rPr>
              <a:t>慶田 優　／　齊藤 銀二　／　桑原 拓也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53328"/>
            <a:ext cx="11277295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64A0FF"/>
                </a:solidFill>
                <a:latin typeface="Noto Sans JP"/>
              </a:rPr>
              <a:t>システム開発における生成AI活用ワークショップ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AD278"/>
                </a:solidFill>
                <a:latin typeface="Noto Sans JP"/>
              </a:rPr>
              <a:t>開発期間: 2026年 3月20日 〜 4月10日（約3週間）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0F23"/>
                </a:solidFill>
                <a:latin typeface="Noto Sans JP"/>
              </a:rPr>
              <a:t>目次  ― 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66928" cy="612648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4632" y="1051560"/>
            <a:ext cx="51206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0F23"/>
                </a:solidFill>
                <a:latin typeface="Impac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069848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3D2F5"/>
                </a:solidFill>
                <a:latin typeface="Noto Sans JP"/>
              </a:rPr>
              <a:t>プロダクト概要（DUNGEON QUEST とは？）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36776"/>
            <a:ext cx="566928" cy="612648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728216"/>
            <a:ext cx="51206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0F23"/>
                </a:solidFill>
                <a:latin typeface="Impac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746504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3D2F5"/>
                </a:solidFill>
                <a:latin typeface="Noto Sans JP"/>
              </a:rPr>
              <a:t>なぜこのプロダクトを作ったか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566928" cy="612648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2404872"/>
            <a:ext cx="51206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0F23"/>
                </a:solidFill>
                <a:latin typeface="Impac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23160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3D2F5"/>
                </a:solidFill>
                <a:latin typeface="Noto Sans JP"/>
              </a:rPr>
              <a:t>生成 AI をどのように活用したか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90088"/>
            <a:ext cx="566928" cy="612648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" y="3081528"/>
            <a:ext cx="51206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0F23"/>
                </a:solidFill>
                <a:latin typeface="Impact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099816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3D2F5"/>
                </a:solidFill>
                <a:latin typeface="Noto Sans JP"/>
              </a:rPr>
              <a:t>実際の画面・デモ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66744"/>
            <a:ext cx="566928" cy="612648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3758184"/>
            <a:ext cx="51206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0F23"/>
                </a:solidFill>
                <a:latin typeface="Impact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776472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3D2F5"/>
                </a:solidFill>
                <a:latin typeface="Noto Sans JP"/>
              </a:rPr>
              <a:t>こだわった点・工夫した点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43400"/>
            <a:ext cx="566928" cy="612648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4434840"/>
            <a:ext cx="51206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0F23"/>
                </a:solidFill>
                <a:latin typeface="Impact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453128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3D2F5"/>
                </a:solidFill>
                <a:latin typeface="Noto Sans JP"/>
              </a:rPr>
              <a:t>開発で苦労したこと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0056"/>
            <a:ext cx="566928" cy="612648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" y="5111496"/>
            <a:ext cx="512064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0F23"/>
                </a:solidFill>
                <a:latin typeface="Impact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129784"/>
            <a:ext cx="10582351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3D2F5"/>
                </a:solidFill>
                <a:latin typeface="Noto Sans JP"/>
              </a:rPr>
              <a:t>今後の展望・改善点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0F23"/>
                </a:solidFill>
                <a:latin typeface="Noto Sans JP"/>
              </a:rPr>
              <a:t>プロダクト概要 ―― DUNGEON QUEST 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Noto Sans JP"/>
              </a:rPr>
              <a:t>7 階層のダンジョンを攻略し、最深部の龍神ヴァルムドラグを討伐するブラウザゲーム</a:t>
            </a:r>
          </a:p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Noto Sans JP"/>
              </a:rPr>
              <a:t>HTML / CSS / JavaScript のみで動作（外部ライブラリなし・index.html をブラウザで開くだけ）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64208"/>
            <a:ext cx="5556351" cy="2331720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75564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C832"/>
                </a:solidFill>
                <a:latin typeface="Noto Sans JP"/>
              </a:rPr>
              <a:t>   コマンドバトル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167128"/>
            <a:ext cx="5318607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攻撃・防御・スキル・アイテム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ターン制・プレイヤー先攻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状態異常（毒・バフ / デバフ）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ボスは専用スキルを使用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8143" y="1664208"/>
            <a:ext cx="5556351" cy="2331720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7015" y="175564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C832"/>
                </a:solidFill>
                <a:latin typeface="Noto Sans JP"/>
              </a:rPr>
              <a:t>   レリックシステム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7015" y="2167128"/>
            <a:ext cx="5318607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23 種のレリックを収集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パッシブ効果が常時発動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複数所持可・上限なし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レア度で出現確率を調整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87368"/>
            <a:ext cx="5556351" cy="2331720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" y="417880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C832"/>
                </a:solidFill>
                <a:latin typeface="Noto Sans JP"/>
              </a:rPr>
              <a:t>   豊富なイベント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590288"/>
            <a:ext cx="5318607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各階層 5〜6 種 × 6 階層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30 種超のランダムイベント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選択肢でリスク vs リターン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階層限定の特殊イベントも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3" y="4087368"/>
            <a:ext cx="5556351" cy="2331720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7015" y="417880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C832"/>
                </a:solidFill>
                <a:latin typeface="Noto Sans JP"/>
              </a:rPr>
              <a:t>   ショップ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7015" y="4590288"/>
            <a:ext cx="5318607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階層移動のたびに入店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レリック＋アイテムをランダム抽選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ゴールドで強化・準備を整える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戦略的な資源管理が重要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0F23"/>
                </a:solidFill>
                <a:latin typeface="Noto Sans JP"/>
              </a:rPr>
              <a:t>なぜこのプロダクトを作ったか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556351" cy="1709928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051560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C832"/>
                </a:solidFill>
                <a:latin typeface="Noto Sans JP"/>
              </a:rPr>
              <a:t>   きっかけ・背景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463040"/>
            <a:ext cx="5318607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ゲーム開発への興味と技術的挑戦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ローグライクの高いリプレイ性 ×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  JRPG のドラマ性を融合させたかった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生成 AI でどこまで作れるか試したかった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8143" y="960120"/>
            <a:ext cx="5556351" cy="1709928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7015" y="1051560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C832"/>
                </a:solidFill>
                <a:latin typeface="Noto Sans JP"/>
              </a:rPr>
              <a:t>   ワークショップ背景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7015" y="1463040"/>
            <a:ext cx="5318607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千葉工大生向け特別企画として実施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急速な生成 AI 技術の進化を受け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「先端技術の開発の楽しさを学生に」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  という思いから企画・実現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61488"/>
            <a:ext cx="11277295" cy="1778614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2852928"/>
            <a:ext cx="1103955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C832"/>
                </a:solidFill>
                <a:latin typeface="Noto Sans JP"/>
              </a:rPr>
              <a:t>   目指したゲーム体験・プロジェクト目標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3264408"/>
            <a:ext cx="11039551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 dirty="0" err="1">
                <a:solidFill>
                  <a:srgbClr val="C3D2F5"/>
                </a:solidFill>
                <a:latin typeface="Noto Sans JP"/>
              </a:rPr>
              <a:t>外部ライブラリゼロで本格的なゲームを作りきる</a:t>
            </a:r>
            <a:r>
              <a:rPr sz="1500" b="0" i="0" dirty="0">
                <a:solidFill>
                  <a:srgbClr val="C3D2F5"/>
                </a:solidFill>
                <a:latin typeface="Noto Sans JP"/>
              </a:rPr>
              <a:t> ―― 「</a:t>
            </a:r>
            <a:r>
              <a:rPr sz="1500" b="0" i="0" dirty="0" err="1">
                <a:solidFill>
                  <a:srgbClr val="C3D2F5"/>
                </a:solidFill>
                <a:latin typeface="Noto Sans JP"/>
              </a:rPr>
              <a:t>作れる」という自信をつける</a:t>
            </a:r>
            <a:endParaRPr sz="1500" b="0" i="0" dirty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 dirty="0" err="1">
                <a:solidFill>
                  <a:srgbClr val="C3D2F5"/>
                </a:solidFill>
                <a:latin typeface="Noto Sans JP"/>
              </a:rPr>
              <a:t>限られたリソース管理</a:t>
            </a:r>
            <a:r>
              <a:rPr sz="1500" b="0" i="0" dirty="0">
                <a:solidFill>
                  <a:srgbClr val="C3D2F5"/>
                </a:solidFill>
                <a:latin typeface="Noto Sans JP"/>
              </a:rPr>
              <a:t> × </a:t>
            </a:r>
            <a:r>
              <a:rPr sz="1500" b="0" i="0" dirty="0" err="1">
                <a:solidFill>
                  <a:srgbClr val="C3D2F5"/>
                </a:solidFill>
                <a:latin typeface="Noto Sans JP"/>
              </a:rPr>
              <a:t>ランダム性で毎回違う体験を実現する</a:t>
            </a:r>
            <a:endParaRPr sz="1500" b="0" i="0" dirty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 dirty="0" err="1">
                <a:solidFill>
                  <a:srgbClr val="C3D2F5"/>
                </a:solidFill>
                <a:latin typeface="Noto Sans JP"/>
              </a:rPr>
              <a:t>チーム</a:t>
            </a:r>
            <a:r>
              <a:rPr sz="1500" b="0" i="0" dirty="0">
                <a:solidFill>
                  <a:srgbClr val="C3D2F5"/>
                </a:solidFill>
                <a:latin typeface="Noto Sans JP"/>
              </a:rPr>
              <a:t> 3 </a:t>
            </a:r>
            <a:r>
              <a:rPr sz="1500" b="0" i="0" dirty="0" err="1">
                <a:solidFill>
                  <a:srgbClr val="C3D2F5"/>
                </a:solidFill>
                <a:latin typeface="Noto Sans JP"/>
              </a:rPr>
              <a:t>人の役割分担でリアルなチーム開発の流れを体験する</a:t>
            </a:r>
            <a:endParaRPr sz="1500" b="0" i="0" dirty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 dirty="0">
                <a:solidFill>
                  <a:srgbClr val="C3D2F5"/>
                </a:solidFill>
                <a:latin typeface="Noto Sans JP"/>
              </a:rPr>
              <a:t>「</a:t>
            </a:r>
            <a:r>
              <a:rPr sz="1500" b="0" i="0" dirty="0" err="1">
                <a:solidFill>
                  <a:srgbClr val="C3D2F5"/>
                </a:solidFill>
                <a:latin typeface="Noto Sans JP"/>
              </a:rPr>
              <a:t>面白さ」を徹底的に考え抜き、バランス調整・アイデア出しに注力する</a:t>
            </a:r>
            <a:endParaRPr sz="1500" b="0" i="0" dirty="0">
              <a:solidFill>
                <a:srgbClr val="C3D2F5"/>
              </a:solidFill>
              <a:latin typeface="Noto Sans JP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4453128"/>
            <a:ext cx="11277295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0" i="0" dirty="0" err="1">
                <a:solidFill>
                  <a:srgbClr val="64A0FF"/>
                </a:solidFill>
                <a:latin typeface="Noto Sans JP"/>
              </a:rPr>
              <a:t>生成</a:t>
            </a:r>
            <a:r>
              <a:rPr sz="1700" b="0" i="0" dirty="0">
                <a:solidFill>
                  <a:srgbClr val="64A0FF"/>
                </a:solidFill>
                <a:latin typeface="Noto Sans JP"/>
              </a:rPr>
              <a:t> AI </a:t>
            </a:r>
            <a:r>
              <a:rPr sz="1700" b="0" i="0" dirty="0" err="1">
                <a:solidFill>
                  <a:srgbClr val="64A0FF"/>
                </a:solidFill>
                <a:latin typeface="Noto Sans JP"/>
              </a:rPr>
              <a:t>を活用して、アイデア出しからプロトタイピング・実装・デモ発表まで</a:t>
            </a:r>
            <a:endParaRPr sz="1700" b="0" i="0" dirty="0">
              <a:solidFill>
                <a:srgbClr val="64A0FF"/>
              </a:solidFill>
              <a:latin typeface="Noto Sans JP"/>
            </a:endParaRPr>
          </a:p>
          <a:p>
            <a:pPr algn="ctr">
              <a:lnSpc>
                <a:spcPct val="135000"/>
              </a:lnSpc>
            </a:pPr>
            <a:r>
              <a:rPr sz="1700" b="0" i="0" dirty="0" err="1">
                <a:solidFill>
                  <a:srgbClr val="64A0FF"/>
                </a:solidFill>
                <a:latin typeface="Noto Sans JP"/>
              </a:rPr>
              <a:t>一連の開発サイクルを約</a:t>
            </a:r>
            <a:r>
              <a:rPr sz="1700" b="0" i="0" dirty="0">
                <a:solidFill>
                  <a:srgbClr val="64A0FF"/>
                </a:solidFill>
                <a:latin typeface="Noto Sans JP"/>
              </a:rPr>
              <a:t> 3 </a:t>
            </a:r>
            <a:r>
              <a:rPr sz="1700" b="0" i="0" dirty="0" err="1">
                <a:solidFill>
                  <a:srgbClr val="64A0FF"/>
                </a:solidFill>
                <a:latin typeface="Noto Sans JP"/>
              </a:rPr>
              <a:t>週間で完走する実践的経験を積む</a:t>
            </a:r>
            <a:endParaRPr sz="1700" b="0" i="0" dirty="0">
              <a:solidFill>
                <a:srgbClr val="64A0FF"/>
              </a:solidFill>
              <a:latin typeface="Noto Sans J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0F23"/>
                </a:solidFill>
                <a:latin typeface="Noto Sans JP"/>
              </a:rPr>
              <a:t>生成 AI をどのように活用したか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C832"/>
                </a:solidFill>
                <a:latin typeface="Noto Sans JP"/>
              </a:rPr>
              <a:t>Claude Code を全面採用 ―― コード・デバッグ・ドキュメントすべてを AI と協働で開発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685946" cy="4160520"/>
          </a:xfrm>
          <a:prstGeom prst="rect">
            <a:avLst/>
          </a:prstGeom>
          <a:solidFill>
            <a:srgbClr val="181E48"/>
          </a:solidFill>
          <a:ln w="16510">
            <a:solidFill>
              <a:srgbClr val="5A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554480"/>
            <a:ext cx="344820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5AD278"/>
                </a:solidFill>
                <a:latin typeface="Noto Sans JP"/>
              </a:rPr>
              <a:t>   コード生成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965960"/>
            <a:ext cx="3448202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全コードを Claude Code で生成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バトルロジック・Canvas 描画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ショップ・イベントシステム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複雑なゲーム状態管理 (GS)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19 種の敵スプライトも実装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約 3000 行のコードを AI と協働で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2874" y="1463040"/>
            <a:ext cx="3685946" cy="4160520"/>
          </a:xfrm>
          <a:prstGeom prst="rect">
            <a:avLst/>
          </a:prstGeom>
          <a:solidFill>
            <a:srgbClr val="181E48"/>
          </a:solidFill>
          <a:ln w="16510">
            <a:solidFill>
              <a:srgbClr val="6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71746" y="1554480"/>
            <a:ext cx="344820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4A0FF"/>
                </a:solidFill>
                <a:latin typeface="Noto Sans JP"/>
              </a:rPr>
              <a:t>   デバッグ支援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1746" y="1965960"/>
            <a:ext cx="3448202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バグ発生時に即 AI に相談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UI の見切れ・コマンド非表示バグ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バフのカウントダウンバグ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レリック効果が機能しないバグ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原因特定 → 修正まで一貫対応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デバッグ時間を大幅に短縮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8548" y="1463040"/>
            <a:ext cx="3685946" cy="4160520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7420" y="1554480"/>
            <a:ext cx="344820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C832"/>
                </a:solidFill>
                <a:latin typeface="Noto Sans JP"/>
              </a:rPr>
              <a:t>   ドキュメント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7420" y="1965960"/>
            <a:ext cx="3448202" cy="3584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README を AI が自動生成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CHANGELOG を随時更新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チーム分担表 HTML も生成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設計方針・コメントも整備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ドキュメント作成コストほぼゼロ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チーム共有資料も AI が担当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15000"/>
            <a:ext cx="1127729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5AD278"/>
                </a:solidFill>
                <a:latin typeface="Noto Sans JP"/>
              </a:rPr>
              <a:t>AI なしでは難しかった ――「何が面白いか」のアイデア出し ／ ゲームバランスの方針決め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0F23"/>
                </a:solidFill>
                <a:latin typeface="Noto Sans JP"/>
              </a:rPr>
              <a:t>実際の画面・デモ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3858768"/>
          </a:xfrm>
          <a:prstGeom prst="rect">
            <a:avLst/>
          </a:prstGeom>
          <a:solidFill>
            <a:srgbClr val="181E48"/>
          </a:solidFill>
          <a:ln w="2540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2865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400" b="1" i="0">
                <a:solidFill>
                  <a:srgbClr val="FFC832"/>
                </a:solidFill>
                <a:latin typeface="Noto Sans JP"/>
              </a:rPr>
              <a:t>【  デモ動画 / ライブデモ 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C3D2F5"/>
                </a:solidFill>
                <a:latin typeface="Noto Sans JP"/>
              </a:rPr>
              <a:t>index.html をブラウザで開くだけで動作します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92040"/>
            <a:ext cx="5556351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▶  タイトル → 階層選択（戦闘 / イベント / 階段）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▶  コマンドバトル（スキル・アイテム使用）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▶  ショップ・レリック購入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▶  ランダムイベントの選択分岐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8143" y="4892040"/>
            <a:ext cx="5556351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▶  龍神ヴァルムドラグとのボス戦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▶  クリア・ゲームオーバー画面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▶  スコア計算・表示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▶  Canvas ドット絵スプライト 20 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0F23"/>
                </a:solidFill>
                <a:latin typeface="Noto Sans JP"/>
              </a:rPr>
              <a:t>こだわった点・工夫した点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5556351" cy="2560320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051560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C832"/>
                </a:solidFill>
                <a:latin typeface="Noto Sans JP"/>
              </a:rPr>
              <a:t>   ゲームバランスの徹底調整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463040"/>
            <a:ext cx="5318607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同階層で戦闘を重ねるほど敵が強化（HP+12% / ATK+6%）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7 階層の難易度上昇カーブを丁寧に設計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レリック・アイテム価格のコストパフォーマンス調整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8143" y="960120"/>
            <a:ext cx="5556351" cy="2560320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7015" y="1051560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C832"/>
                </a:solidFill>
                <a:latin typeface="Noto Sans JP"/>
              </a:rPr>
              <a:t>   30 種超のランダムイベント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7015" y="1463040"/>
            <a:ext cx="5318607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各階層 5〜6 種 × 6 階層 = 30 種超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選択肢でリスク vs リターンの面白さを実現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階層限定イベントで後半の緊張感を演出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30168"/>
            <a:ext cx="5556351" cy="2560320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372160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C832"/>
                </a:solidFill>
                <a:latin typeface="Noto Sans JP"/>
              </a:rPr>
              <a:t>   23 種のレリックシステム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133088"/>
            <a:ext cx="5318607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パッシブ効果が常時発動するビルド要素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レア度（tier）で出現確率を重み付け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複数所持でビルドの深みと戦略性を追加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3630168"/>
            <a:ext cx="5556351" cy="2560320"/>
          </a:xfrm>
          <a:prstGeom prst="rect">
            <a:avLst/>
          </a:prstGeom>
          <a:solidFill>
            <a:srgbClr val="181E48"/>
          </a:solidFill>
          <a:ln w="16510">
            <a:solidFill>
              <a:srgbClr val="FFC8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7015" y="372160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C832"/>
                </a:solidFill>
                <a:latin typeface="Noto Sans JP"/>
              </a:rPr>
              <a:t>   Canvas ドット絵スプライト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015" y="4133088"/>
            <a:ext cx="5318607" cy="1984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全 20 種のスプライトを Canvas 2D で手描き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requestAnimationFrame によるアニメーション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ボス専用スキルのエフェクト演出も実装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0F23"/>
                </a:solidFill>
                <a:latin typeface="Noto Sans JP"/>
              </a:rPr>
              <a:t>開発で苦労したこと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685946" cy="5029200"/>
          </a:xfrm>
          <a:prstGeom prst="rect">
            <a:avLst/>
          </a:prstGeom>
          <a:solidFill>
            <a:srgbClr val="181E48"/>
          </a:solidFill>
          <a:ln w="25400">
            <a:solidFill>
              <a:srgbClr val="FF6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97280"/>
            <a:ext cx="346649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6E5A"/>
                </a:solidFill>
                <a:latin typeface="Noto Sans JP"/>
              </a:rPr>
              <a:t>   ゲームバランスの調整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346649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「強すぎず・弱すぎず」の絶妙な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数値設計が想像以上に難しかった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endParaRPr sz="14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数値を少し変えるだけで体験が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大きく変化し、何度も試行錯誤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endParaRPr sz="14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AI に相談しながら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バランスの方針を決定した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endParaRPr sz="14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プレイテストを繰り返して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少しずつ理想に近づけた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2874" y="1005840"/>
            <a:ext cx="3685946" cy="5029200"/>
          </a:xfrm>
          <a:prstGeom prst="rect">
            <a:avLst/>
          </a:prstGeom>
          <a:solidFill>
            <a:srgbClr val="181E48"/>
          </a:solidFill>
          <a:ln w="25400">
            <a:solidFill>
              <a:srgbClr val="6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62602" y="1097280"/>
            <a:ext cx="346649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64A0FF"/>
                </a:solidFill>
                <a:latin typeface="Noto Sans JP"/>
              </a:rPr>
              <a:t>   アイデア出し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2602" y="1517904"/>
            <a:ext cx="346649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「何が面白いか」の答えは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数値では出ない創造的な作業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endParaRPr sz="14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イベントやレリックの効果案を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考えるのが最も難しかった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endParaRPr sz="14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AI へのプロンプトを工夫して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アイデアの壁を突破した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endParaRPr sz="14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「面白さ」を言語化する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訓練になった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548" y="1005840"/>
            <a:ext cx="3685946" cy="5029200"/>
          </a:xfrm>
          <a:prstGeom prst="rect">
            <a:avLst/>
          </a:prstGeom>
          <a:solidFill>
            <a:srgbClr val="181E48"/>
          </a:solidFill>
          <a:ln w="25400">
            <a:solidFill>
              <a:srgbClr val="5A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58276" y="1097280"/>
            <a:ext cx="346649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AD278"/>
                </a:solidFill>
                <a:latin typeface="Noto Sans JP"/>
              </a:rPr>
              <a:t>   チーム開発のマージ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276" y="1517904"/>
            <a:ext cx="3466490" cy="4434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3 人が同時に異なる機能を実装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コンフリクトを防ぐため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ファイルを機能ごとに分割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endParaRPr sz="14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担当ファイルの境界を明確に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共通ファイル変更時は事前連絡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ブランチ戦略で安全に統合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endParaRPr sz="14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チーム開発の難しさと</a:t>
            </a:r>
          </a:p>
          <a:p>
            <a:pPr algn="l">
              <a:lnSpc>
                <a:spcPct val="132000"/>
              </a:lnSpc>
              <a:spcBef>
                <a:spcPts val="200"/>
              </a:spcBef>
            </a:pPr>
            <a:r>
              <a:rPr sz="1400" b="0" i="0">
                <a:solidFill>
                  <a:srgbClr val="C3D2F5"/>
                </a:solidFill>
                <a:latin typeface="Noto Sans JP"/>
              </a:rPr>
              <a:t>醍醐味を同時に体験した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0F23"/>
                </a:solidFill>
                <a:latin typeface="Noto Sans JP"/>
              </a:rPr>
              <a:t>今後の展望・改善点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556351" cy="5029200"/>
          </a:xfrm>
          <a:prstGeom prst="rect">
            <a:avLst/>
          </a:prstGeom>
          <a:solidFill>
            <a:srgbClr val="181E48"/>
          </a:solidFill>
          <a:ln w="16510">
            <a:solidFill>
              <a:srgbClr val="5AD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097280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5AD278"/>
                </a:solidFill>
                <a:latin typeface="Noto Sans JP"/>
              </a:rPr>
              <a:t>   近い将来の改善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508760"/>
            <a:ext cx="5318607" cy="4453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宝箱イベントにアイテム報酬追加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  （4〜6 階の宝箱を充実させる）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endParaRPr sz="15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スキル入手方法の見直し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  （ショップタブ廃止後の代替手段）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endParaRPr sz="15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BGM / SE の追加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  （サウンドなしは没入感が薄い）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endParaRPr sz="15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仲間システムの実装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  （パーティー編成要素の追加）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8143" y="1005840"/>
            <a:ext cx="5556351" cy="5029200"/>
          </a:xfrm>
          <a:prstGeom prst="rect">
            <a:avLst/>
          </a:prstGeom>
          <a:solidFill>
            <a:srgbClr val="181E48"/>
          </a:solidFill>
          <a:ln w="16510">
            <a:solidFill>
              <a:srgbClr val="64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7015" y="1097280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64A0FF"/>
                </a:solidFill>
                <a:latin typeface="Noto Sans JP"/>
              </a:rPr>
              <a:t>   将来の展望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7015" y="1508760"/>
            <a:ext cx="5318607" cy="4453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スマートフォン対応（タッチ UI）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endParaRPr sz="15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オンラインスコアランキング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endParaRPr sz="15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より多くのボス・フロアの追加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endParaRPr sz="15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AI 生成によるダンジョンマップの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  動的生成への挑戦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endParaRPr sz="1500" b="0" i="0">
              <a:solidFill>
                <a:srgbClr val="C3D2F5"/>
              </a:solidFill>
              <a:latin typeface="Noto Sans JP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「生成 AI × ゲーム生成」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  プロジェクトへの発展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0F0F23"/>
                </a:solidFill>
                <a:latin typeface="Noto Sans JP"/>
              </a:rP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FC832"/>
                </a:solidFill>
                <a:latin typeface="Noto Sans JP"/>
              </a:rPr>
              <a:t>DUNGEON QUEST  ――  ローグライク × JRPG  ブラウザゲーム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502920" cy="4572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609344"/>
            <a:ext cx="44805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F0F23"/>
                </a:solidFill>
                <a:latin typeface="Noto Sans JP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5AD278"/>
                </a:solidFill>
                <a:latin typeface="Noto Sans JP"/>
              </a:rPr>
              <a:t>Claude Code を全面活用し、3 人チームで 3 週間でゲームを完成させた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502920" cy="4572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2551176"/>
            <a:ext cx="44805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F0F23"/>
                </a:solidFill>
                <a:latin typeface="Noto Sans JP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87752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64A0FF"/>
                </a:solidFill>
                <a:latin typeface="Noto Sans JP"/>
              </a:rPr>
              <a:t>コード生成・デバッグ・ドキュメントすべてを AI と協働で実現できた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56432"/>
            <a:ext cx="502920" cy="4572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3493008"/>
            <a:ext cx="44805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F0F23"/>
                </a:solidFill>
                <a:latin typeface="Noto Sans JP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29584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3D2F5"/>
                </a:solidFill>
                <a:latin typeface="Noto Sans JP"/>
              </a:rPr>
              <a:t>「面白いゲームを作る」という本質的な課題に集中することができた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98264"/>
            <a:ext cx="502920" cy="457200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4434840"/>
            <a:ext cx="448056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F0F23"/>
                </a:solidFill>
                <a:latin typeface="Noto Sans JP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7141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FFFFFF"/>
                </a:solidFill>
                <a:latin typeface="Noto Sans JP"/>
              </a:rPr>
              <a:t>生成 AI が開発の可能性を大きく広げることを体験・実感した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52160"/>
            <a:ext cx="11277295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C832"/>
                </a:solidFill>
                <a:latin typeface="Noto Sans JP"/>
              </a:rPr>
              <a:t>ご清聴ありがとうございました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27648"/>
            <a:ext cx="11277295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C3D2F5"/>
                </a:solidFill>
                <a:latin typeface="Noto Sans JP"/>
              </a:rPr>
              <a:t>慶田 優　／　齊藤 銀二　／　桑原 拓也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631</Words>
  <Application>Microsoft Macintosh PowerPoint</Application>
  <PresentationFormat>ワイド画面</PresentationFormat>
  <Paragraphs>186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Noto Sans JP</vt:lpstr>
      <vt:lpstr>Arial</vt:lpstr>
      <vt:lpstr>Calibri</vt:lpstr>
      <vt:lpstr>Impact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/>
  <cp:keywords/>
  <dc:description>generated using python-pptx</dc:description>
  <cp:lastModifiedBy>桑原　拓也</cp:lastModifiedBy>
  <cp:revision>2</cp:revision>
  <dcterms:created xsi:type="dcterms:W3CDTF">2013-01-27T09:14:16Z</dcterms:created>
  <dcterms:modified xsi:type="dcterms:W3CDTF">2026-04-09T07:31:30Z</dcterms:modified>
  <cp:category/>
</cp:coreProperties>
</file>